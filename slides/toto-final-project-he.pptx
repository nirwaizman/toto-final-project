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0" y="-548640"/>
            <a:ext cx="2926080" cy="292608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097280" y="2743200"/>
            <a:ext cx="4754880" cy="475488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1">
                <a:solidFill>
                  <a:srgbClr val="F97316"/>
                </a:solidFill>
                <a:latin typeface="Arial"/>
              </a:rPr>
              <a:t>פרויקט גמר · קורס פיתוח AI ושיתוף פעולה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Toto — סימולציה של צוות מוצר AI תעשייתי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900" b="0">
                <a:solidFill>
                  <a:srgbClr val="CBD5E1"/>
                </a:solidFill>
                <a:latin typeface="Arial"/>
              </a:rPr>
              <a:t>מערכת CrewAI דו-צוותית שהופכת נתוני הזמנות מלון גולמיים למודל חיזוי ביטולים — מקצה לקצה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0">
                <a:solidFill>
                  <a:srgbClr val="94A3B8"/>
                </a:solidFill>
                <a:latin typeface="Arial"/>
              </a:rPr>
              <a:t>ניר וייצמן  |  אוגוסט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2388" y="5212080"/>
            <a:ext cx="1467612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2388" y="5230368"/>
            <a:ext cx="14676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CrewAI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5532" y="5212080"/>
            <a:ext cx="2139696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5532" y="5230368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Claude (Anthropic)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5212080"/>
            <a:ext cx="1467612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5230368"/>
            <a:ext cx="14676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Python 3.12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5212080"/>
            <a:ext cx="1563624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5230368"/>
            <a:ext cx="1563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Scikit-Learn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67228" y="5212080"/>
            <a:ext cx="1275588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7228" y="5230368"/>
            <a:ext cx="12755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Streamlit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42516" y="5212080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42516" y="5230368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סדר היום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1207008"/>
            <a:ext cx="2743200" cy="2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212080" cy="6858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1847088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הרקע העסקי והבעיה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606040"/>
            <a:ext cx="5212080" cy="6858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81360" y="271576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27340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הרעיון — מי זה Toto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12080" cy="6858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81360" y="3584448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36027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118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ארכיטקטורה: 2 צוותים +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343400"/>
            <a:ext cx="5212080" cy="6858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81360" y="4453128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0" y="4471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805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הדאטהסט ותובנות ה-EDA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5212080"/>
            <a:ext cx="5212080" cy="6858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81360" y="53218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0" y="53400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349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צוות 1 — אנליסט נתונים (4 סוכנים)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737360"/>
            <a:ext cx="5212080" cy="6858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12080" y="1847088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18745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שער הולידציה של ה-Flow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2606040"/>
            <a:ext cx="5212080" cy="6858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12080" y="2715768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27340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צוות 2 — מדען נתונים (3 סוכנים)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3474720"/>
            <a:ext cx="5212080" cy="6858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12080" y="35844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0" y="36027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36118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תוצאות המודל ו-Model Card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343400"/>
            <a:ext cx="5212080" cy="6858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12080" y="4453128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4471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44805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אפליקציית Streamlit ודמו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212080"/>
            <a:ext cx="5212080" cy="6858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212080" y="5321808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80" y="53400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349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שחזור, טכנולוגיה וסיכום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הרקע העסקי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Arial"/>
              </a:rPr>
              <a:t>למה ביטולי הזמנות הם בעיה של כסף אמיתי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1481328"/>
            <a:ext cx="2743200" cy="2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73736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F97316"/>
                </a:solidFill>
                <a:latin typeface="Arial"/>
              </a:rPr>
              <a:t>◀  </a:t>
            </a:r>
            <a:r>
              <a:rPr sz="1600" b="1">
                <a:solidFill>
                  <a:srgbClr val="FFFFFF"/>
                </a:solidFill>
                <a:latin typeface="Arial"/>
              </a:rPr>
              <a:t>רשת מלונאות</a:t>
            </a:r>
            <a:r>
              <a:rPr sz="1600">
                <a:solidFill>
                  <a:srgbClr val="CBD5E1"/>
                </a:solidFill>
                <a:latin typeface="Arial"/>
              </a:rPr>
              <a:t>  מפעילה כמה מלונות (בהשראת תפעול אמיתי: מלון בוטיק באילת ומלון עירוני בתל אביב).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F97316"/>
                </a:solidFill>
                <a:latin typeface="Arial"/>
              </a:rPr>
              <a:t>◀  </a:t>
            </a:r>
            <a:r>
              <a:rPr sz="1600" b="1">
                <a:solidFill>
                  <a:srgbClr val="FFFFFF"/>
                </a:solidFill>
                <a:latin typeface="Arial"/>
              </a:rPr>
              <a:t>כל ביטול = הפסד:</a:t>
            </a:r>
            <a:r>
              <a:rPr sz="1600">
                <a:solidFill>
                  <a:srgbClr val="CBD5E1"/>
                </a:solidFill>
                <a:latin typeface="Arial"/>
              </a:rPr>
              <a:t>  חדרים שלא נמכרו, כוח אדם מיותר, תחזיות שגויות ומדיניות Overbooking שנשענת על תחושת בטן.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F97316"/>
                </a:solidFill>
                <a:latin typeface="Arial"/>
              </a:rPr>
              <a:t>◀  </a:t>
            </a:r>
            <a:r>
              <a:rPr sz="1600" b="1">
                <a:solidFill>
                  <a:srgbClr val="FFFFFF"/>
                </a:solidFill>
                <a:latin typeface="Arial"/>
              </a:rPr>
              <a:t>ההנהלה צריכה שתי זוויות:</a:t>
            </a:r>
            <a:r>
              <a:rPr sz="1600">
                <a:solidFill>
                  <a:srgbClr val="CBD5E1"/>
                </a:solidFill>
                <a:latin typeface="Arial"/>
              </a:rPr>
              <a:t>  תיאורית — "מה קורה בהזמנות שלנו?" וחיזויית — "אילו הזמנות צפויות להתבטל?"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F97316"/>
                </a:solidFill>
                <a:latin typeface="Arial"/>
              </a:rPr>
              <a:t>◀  </a:t>
            </a:r>
            <a:r>
              <a:rPr sz="1600" b="1">
                <a:solidFill>
                  <a:srgbClr val="FFFFFF"/>
                </a:solidFill>
                <a:latin typeface="Arial"/>
              </a:rPr>
              <a:t>המטרה:</a:t>
            </a:r>
            <a:r>
              <a:rPr sz="1600">
                <a:solidFill>
                  <a:srgbClr val="CBD5E1"/>
                </a:solidFill>
                <a:latin typeface="Arial"/>
              </a:rPr>
              <a:t>  צינור AI מקצה לקצה, ניתן לשחזור, שקולט נתונים גולמיים, מפיק תובנות ומנבא סיכון ביטול כבר ברגע ההזמנה.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737360"/>
            <a:ext cx="429768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847088"/>
            <a:ext cx="4078224" cy="4078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59253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117,567 הזמנות אמיתיות · פורטוגל 2015–2017 · 37.3% בוטלו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הרעיון — "Toto"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Arial"/>
              </a:rPr>
              <a:t>מסוכן אישי יומיומי לצוות מוצר מדומה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1481328"/>
            <a:ext cx="2743200" cy="2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73736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F97316"/>
                </a:solidFill>
                <a:latin typeface="Arial"/>
              </a:rPr>
              <a:t>◀  </a:t>
            </a:r>
            <a:r>
              <a:rPr sz="1600" b="1">
                <a:solidFill>
                  <a:srgbClr val="FFFFFF"/>
                </a:solidFill>
                <a:latin typeface="Arial"/>
              </a:rPr>
              <a:t>Toto הוא סוכן AI אמיתי</a:t>
            </a:r>
            <a:r>
              <a:rPr sz="1600">
                <a:solidFill>
                  <a:srgbClr val="CBD5E1"/>
                </a:solidFill>
                <a:latin typeface="Arial"/>
              </a:rPr>
              <a:t>  שפועל יום-יום: מעקב משפטי, בנקאות, לוגיסטיקה משפחתית ותפעול מלונות.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F97316"/>
                </a:solidFill>
                <a:latin typeface="Arial"/>
              </a:rPr>
              <a:t>◀  </a:t>
            </a:r>
            <a:r>
              <a:rPr sz="1600" b="1">
                <a:solidFill>
                  <a:srgbClr val="FFFFFF"/>
                </a:solidFill>
                <a:latin typeface="Arial"/>
              </a:rPr>
              <a:t>אותה פילוסופיה בקנה מידה תעשייתי:</a:t>
            </a:r>
            <a:r>
              <a:rPr sz="1600">
                <a:solidFill>
                  <a:srgbClr val="CBD5E1"/>
                </a:solidFill>
                <a:latin typeface="Arial"/>
              </a:rPr>
              <a:t>  סוכנים מתמחים, לכל אחד תפקיד אחד ברור, שמשתפים פעולה דרך העברות מוגדרות.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F97316"/>
                </a:solidFill>
                <a:latin typeface="Arial"/>
              </a:rPr>
              <a:t>◀  </a:t>
            </a:r>
            <a:r>
              <a:rPr sz="1600" b="1">
                <a:solidFill>
                  <a:srgbClr val="FFFFFF"/>
                </a:solidFill>
                <a:latin typeface="Arial"/>
              </a:rPr>
              <a:t>צוות 1 (אנליסט)</a:t>
            </a:r>
            <a:r>
              <a:rPr sz="1600">
                <a:solidFill>
                  <a:srgbClr val="CBD5E1"/>
                </a:solidFill>
                <a:latin typeface="Arial"/>
              </a:rPr>
              <a:t>  משקף איך Toto קולט מידע גולמי ומבולגן והופך אותו לתובנה מובנית ואמינה.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F97316"/>
                </a:solidFill>
                <a:latin typeface="Arial"/>
              </a:rPr>
              <a:t>◀  </a:t>
            </a:r>
            <a:r>
              <a:rPr sz="1600" b="1">
                <a:solidFill>
                  <a:srgbClr val="FFFFFF"/>
                </a:solidFill>
                <a:latin typeface="Arial"/>
              </a:rPr>
              <a:t>צוות 2 (מדען נתונים)</a:t>
            </a:r>
            <a:r>
              <a:rPr sz="1600">
                <a:solidFill>
                  <a:srgbClr val="CBD5E1"/>
                </a:solidFill>
                <a:latin typeface="Arial"/>
              </a:rPr>
              <a:t>  משקף איך Toto הופך תובנה לכלי תומך החלטה — חיזוי חי, לא רק דוח.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F97316"/>
                </a:solidFill>
                <a:latin typeface="Arial"/>
              </a:rPr>
              <a:t>◀  </a:t>
            </a:r>
            <a:r>
              <a:rPr sz="1600" b="1">
                <a:solidFill>
                  <a:srgbClr val="FFFFFF"/>
                </a:solidFill>
                <a:latin typeface="Arial"/>
              </a:rPr>
              <a:t>ה-Flow אוכף שערי ולידציה</a:t>
            </a:r>
            <a:r>
              <a:rPr sz="1600">
                <a:solidFill>
                  <a:srgbClr val="CBD5E1"/>
                </a:solidFill>
                <a:latin typeface="Arial"/>
              </a:rPr>
              <a:t>  בין הצוותים — בדיוק כמו ש-Toto לא פועל על מידע לא מאומת.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3840480" cy="1234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470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1">
                <a:solidFill>
                  <a:srgbClr val="3B82F6"/>
                </a:solidFill>
                <a:latin typeface="Arial"/>
              </a:rPr>
              <a:t>🎯  תפקיד אחד לסוכן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כל סוכן עושה דבר אחד — ועושה אותו טוב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3840480" cy="1234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644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1">
                <a:solidFill>
                  <a:srgbClr val="F97316"/>
                </a:solidFill>
                <a:latin typeface="Arial"/>
              </a:rPr>
              <a:t>🔒  כלים דטרמיניסטיים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2160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pandas ו-sklearn עושים את העבודה, ה-LLM מנהל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3840480" cy="1234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1">
                <a:solidFill>
                  <a:srgbClr val="10B981"/>
                </a:solidFill>
                <a:latin typeface="Arial"/>
              </a:rPr>
              <a:t>🚧  אין העברה ללא ולידציה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3892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חוזה נתונים נבדק לפני שצוות 2 מתחיל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ארכיטקטורה ברמה גבוהה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Arial"/>
              </a:rPr>
              <a:t>שני צוותים, Flow אחד, שני שערי ולידציה — הכל אוטומטי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1481328"/>
            <a:ext cx="2743200" cy="2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317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9659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800" b="1">
                <a:solidFill>
                  <a:srgbClr val="3B82F6"/>
                </a:solidFill>
                <a:latin typeface="Arial"/>
              </a:rPr>
              <a:t>צוות 1 · אנליסט נתונים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7889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400"/>
              </a:spcAft>
            </a:pPr>
            <a:r>
              <a:rPr sz="900">
                <a:solidFill>
                  <a:srgbClr val="3B82F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Ingestion — פרופיל הנתונים</a:t>
            </a:r>
          </a:p>
          <a:p>
            <a:pPr rtl="1" algn="r">
              <a:lnSpc>
                <a:spcPct val="125000"/>
              </a:lnSpc>
              <a:spcAft>
                <a:spcPts val="400"/>
              </a:spcAft>
            </a:pPr>
            <a:r>
              <a:rPr sz="900">
                <a:solidFill>
                  <a:srgbClr val="3B82F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Cleaning — clean_data.csv</a:t>
            </a:r>
          </a:p>
          <a:p>
            <a:pPr rtl="1" algn="r">
              <a:lnSpc>
                <a:spcPct val="125000"/>
              </a:lnSpc>
              <a:spcAft>
                <a:spcPts val="400"/>
              </a:spcAft>
            </a:pPr>
            <a:r>
              <a:rPr sz="900">
                <a:solidFill>
                  <a:srgbClr val="3B82F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EDA — eda_report.html</a:t>
            </a:r>
          </a:p>
          <a:p>
            <a:pPr rtl="1" algn="r">
              <a:lnSpc>
                <a:spcPct val="125000"/>
              </a:lnSpc>
              <a:spcAft>
                <a:spcPts val="400"/>
              </a:spcAft>
            </a:pPr>
            <a:r>
              <a:rPr sz="900">
                <a:solidFill>
                  <a:srgbClr val="3B82F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Insights + Contract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9456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317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800" b="1">
                <a:solidFill>
                  <a:srgbClr val="F97316"/>
                </a:solidFill>
                <a:latin typeface="Arial"/>
              </a:rPr>
              <a:t>CrewAI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54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400"/>
              </a:spcAft>
            </a:pPr>
            <a:r>
              <a:rPr sz="900">
                <a:solidFill>
                  <a:srgbClr val="F9731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שער ולידציה: חוזה ↔ נתונים</a:t>
            </a:r>
          </a:p>
          <a:p>
            <a:pPr rtl="1" algn="r">
              <a:lnSpc>
                <a:spcPct val="125000"/>
              </a:lnSpc>
              <a:spcAft>
                <a:spcPts val="400"/>
              </a:spcAft>
            </a:pPr>
            <a:r>
              <a:rPr sz="900">
                <a:solidFill>
                  <a:srgbClr val="F9731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נכשל בחן על דליפה/אי-התאמה</a:t>
            </a:r>
          </a:p>
          <a:p>
            <a:pPr rtl="1" algn="r">
              <a:lnSpc>
                <a:spcPct val="125000"/>
              </a:lnSpc>
              <a:spcAft>
                <a:spcPts val="400"/>
              </a:spcAft>
            </a:pPr>
            <a:r>
              <a:rPr sz="900">
                <a:solidFill>
                  <a:srgbClr val="F9731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העברה אוטומטית + לוג ריצה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82880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317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9659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800" b="1">
                <a:solidFill>
                  <a:srgbClr val="10B981"/>
                </a:solidFill>
                <a:latin typeface="Arial"/>
              </a:rPr>
              <a:t>צוות 2 · מדען נתונים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889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400"/>
              </a:spcAft>
            </a:pPr>
            <a:r>
              <a:rPr sz="900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Contract Validator</a:t>
            </a:r>
          </a:p>
          <a:p>
            <a:pPr rtl="1" algn="r">
              <a:lnSpc>
                <a:spcPct val="125000"/>
              </a:lnSpc>
              <a:spcAft>
                <a:spcPts val="400"/>
              </a:spcAft>
            </a:pPr>
            <a:r>
              <a:rPr sz="900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Feature Engineer — features.csv</a:t>
            </a:r>
          </a:p>
          <a:p>
            <a:pPr rtl="1" algn="r">
              <a:lnSpc>
                <a:spcPct val="125000"/>
              </a:lnSpc>
              <a:spcAft>
                <a:spcPts val="400"/>
              </a:spcAft>
            </a:pPr>
            <a:r>
              <a:rPr sz="900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ML Engineer — 2 מודלים</a:t>
            </a:r>
          </a:p>
          <a:p>
            <a:pPr rtl="1" algn="r">
              <a:lnSpc>
                <a:spcPct val="125000"/>
              </a:lnSpc>
              <a:spcAft>
                <a:spcPts val="400"/>
              </a:spcAft>
            </a:pPr>
            <a:r>
              <a:rPr sz="900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model.pkl + model card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772400" y="3383280"/>
            <a:ext cx="457200" cy="0"/>
          </a:xfrm>
          <a:prstGeom prst="line">
            <a:avLst/>
          </a:prstGeom>
          <a:ln w="31750">
            <a:solidFill>
              <a:srgbClr val="FFFFF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77639" y="3383280"/>
            <a:ext cx="457201" cy="0"/>
          </a:xfrm>
          <a:prstGeom prst="line">
            <a:avLst/>
          </a:prstGeom>
          <a:ln w="31750">
            <a:solidFill>
              <a:srgbClr val="FFFFF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94360" y="5257800"/>
            <a:ext cx="11018520" cy="8229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3095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Consolas"/>
              </a:rPr>
              <a:t>raw csv  →  clean_data.csv  →  eda_report.html  →  insights.md  →  dataset_contract.json  ✅  →  features.csv  →  model.pkl  →  evaluation_report.md  →  model_card.md  ✅  →  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הפרויקט במספרים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1207008"/>
            <a:ext cx="2743200" cy="2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73736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0" y="18745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3400" b="1">
                <a:solidFill>
                  <a:srgbClr val="3B82F6"/>
                </a:solidFill>
                <a:latin typeface="Arial"/>
              </a:rPr>
              <a:t>117,567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הזמנות אמיתיות אחרי ניקוי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3400" b="1">
                <a:solidFill>
                  <a:srgbClr val="EF4444"/>
                </a:solidFill>
                <a:latin typeface="Arial"/>
              </a:rPr>
              <a:t>37.3%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שיעור ביטולים כולל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73736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8745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3400" b="1">
                <a:solidFill>
                  <a:srgbClr val="F97316"/>
                </a:solidFill>
                <a:latin typeface="Arial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סוכני AI מתמחים (4 + 3)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73736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8745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3400" b="1">
                <a:solidFill>
                  <a:srgbClr val="10B981"/>
                </a:solidFill>
                <a:latin typeface="Arial"/>
              </a:rPr>
              <a:t>0.875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ROC-AUC · Gradient Boosting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88620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4023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3400" b="1">
                <a:solidFill>
                  <a:srgbClr val="8B5CF6"/>
                </a:solidFill>
                <a:latin typeface="Arial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פיצ'רים מאושרים בחוזה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88620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023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3400" b="1">
                <a:solidFill>
                  <a:srgbClr val="F97316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שערי ולידציה ב-Flow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88620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4023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3400" b="1">
                <a:solidFill>
                  <a:srgbClr val="3B82F6"/>
                </a:solidFill>
                <a:latin typeface="Arial"/>
              </a:rPr>
              <a:t>40,129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הזמנות בסט המבחן (2017)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88620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3400" b="1">
                <a:solidFill>
                  <a:srgbClr val="10B981"/>
                </a:solidFill>
                <a:latin typeface="Arial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עמודות דליפה במודל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הדאטהסט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Arial"/>
              </a:rPr>
              <a:t>Hotel Booking Demand — נתונים אמיתיים, בעיה אמיתית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1481328"/>
            <a:ext cx="2743200" cy="2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73736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100">
                <a:solidFill>
                  <a:srgbClr val="F97316"/>
                </a:solidFill>
                <a:latin typeface="Arial"/>
              </a:rPr>
              <a:t>◀  </a:t>
            </a:r>
            <a:r>
              <a:rPr sz="1500" b="1">
                <a:solidFill>
                  <a:srgbClr val="FFFFFF"/>
                </a:solidFill>
                <a:latin typeface="Arial"/>
              </a:rPr>
              <a:t>119,390 הזמנות אמיתיות</a:t>
            </a:r>
            <a:r>
              <a:rPr sz="1500">
                <a:solidFill>
                  <a:srgbClr val="CBD5E1"/>
                </a:solidFill>
                <a:latin typeface="Arial"/>
              </a:rPr>
              <a:t>  משני מלונות בפורטוגל (Resort + City), 2015–2017. אחרי ניקוי: 117,567.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100">
                <a:solidFill>
                  <a:srgbClr val="F97316"/>
                </a:solidFill>
                <a:latin typeface="Arial"/>
              </a:rPr>
              <a:t>◀  </a:t>
            </a:r>
            <a:r>
              <a:rPr sz="1500" b="1">
                <a:solidFill>
                  <a:srgbClr val="FFFFFF"/>
                </a:solidFill>
                <a:latin typeface="Arial"/>
              </a:rPr>
              <a:t>משתנה מטרה:</a:t>
            </a:r>
            <a:r>
              <a:rPr sz="1500">
                <a:solidFill>
                  <a:srgbClr val="CBD5E1"/>
                </a:solidFill>
                <a:latin typeface="Arial"/>
              </a:rPr>
              <a:t>  is_canceled — 37.3% מההזמנות בוטלו.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100">
                <a:solidFill>
                  <a:srgbClr val="F97316"/>
                </a:solidFill>
                <a:latin typeface="Arial"/>
              </a:rPr>
              <a:t>◀  </a:t>
            </a:r>
            <a:r>
              <a:rPr sz="1500" b="1">
                <a:solidFill>
                  <a:srgbClr val="FFFFFF"/>
                </a:solidFill>
                <a:latin typeface="Arial"/>
              </a:rPr>
              <a:t>פיצול טמפורלי:</a:t>
            </a:r>
            <a:r>
              <a:rPr sz="1500">
                <a:solidFill>
                  <a:srgbClr val="CBD5E1"/>
                </a:solidFill>
                <a:latin typeface="Arial"/>
              </a:rPr>
              <a:t>  אימון על 2015–2016 (77,438), מבחן על 2017 (40,129) — מדמה חיזוי אמיתי קדימה בזמן.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100">
                <a:solidFill>
                  <a:srgbClr val="F97316"/>
                </a:solidFill>
                <a:latin typeface="Arial"/>
              </a:rPr>
              <a:t>◀  </a:t>
            </a:r>
            <a:r>
              <a:rPr sz="1500" b="1">
                <a:solidFill>
                  <a:srgbClr val="FFFFFF"/>
                </a:solidFill>
                <a:latin typeface="Arial"/>
              </a:rPr>
              <a:t>עמודות דליפה מוצאות במפורש:</a:t>
            </a:r>
            <a:r>
              <a:rPr sz="1500">
                <a:solidFill>
                  <a:srgbClr val="CBD5E1"/>
                </a:solidFill>
                <a:latin typeface="Arial"/>
              </a:rPr>
              <a:t>  reservation_status, reservation_status_date — נרשמות אחרי שהתוצאה ידועה.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100">
                <a:solidFill>
                  <a:srgbClr val="F97316"/>
                </a:solidFill>
                <a:latin typeface="Arial"/>
              </a:rPr>
              <a:t>◀  </a:t>
            </a:r>
            <a:r>
              <a:rPr sz="1500" b="1">
                <a:solidFill>
                  <a:srgbClr val="FFFFFF"/>
                </a:solidFill>
                <a:latin typeface="Arial"/>
              </a:rPr>
              <a:t>רלוונטיות ישירה:</a:t>
            </a:r>
            <a:r>
              <a:rPr sz="1500">
                <a:solidFill>
                  <a:srgbClr val="CBD5E1"/>
                </a:solidFill>
                <a:latin typeface="Arial"/>
              </a:rPr>
              <a:t>  ניהול הכנסות במלונאות — אותה בעיה שמנהלי מלונות מתמודדים איתה כל יום.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5120640" cy="330809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ookings_b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47088"/>
            <a:ext cx="4901184" cy="272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45699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עונתיות ברורה — שיא קיץ ביולי–אוגוסט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צוות 1 — אנליסט נתונים (4 סוכנים)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Arial"/>
              </a:rPr>
              <a:t>מנתונים גולמיים לתובנות ולחוזה נתונים פורמלי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1481328"/>
            <a:ext cx="2743200" cy="2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737360"/>
            <a:ext cx="566928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8105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1">
                <a:solidFill>
                  <a:srgbClr val="3B82F6"/>
                </a:solidFill>
                <a:latin typeface="Arial"/>
              </a:rPr>
              <a:t>1. Data Ingestion Specialist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17627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טוען את הקובץ הגולמי ומפיק פרופיל: צורה, טיפוסים, ערכים חסרים.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788920"/>
            <a:ext cx="566928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8620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1">
                <a:solidFill>
                  <a:srgbClr val="F97316"/>
                </a:solidFill>
                <a:latin typeface="Arial"/>
              </a:rPr>
              <a:t>2. Data Cleaning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22783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מנקה בפרוצדורה דטרמיניסטית ומתועדת → clean_data.csv (1,823 שורות הוסרו).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840480"/>
            <a:ext cx="566928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39136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1">
                <a:solidFill>
                  <a:srgbClr val="10B981"/>
                </a:solidFill>
                <a:latin typeface="Arial"/>
              </a:rPr>
              <a:t>3. EDA 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27939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מחשב שיעורי ביטול, ADR, מדינות מקור, תמהיל ערוצים → eda_report.html.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892040"/>
            <a:ext cx="566928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49651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1">
                <a:solidFill>
                  <a:srgbClr val="8B5CF6"/>
                </a:solidFill>
                <a:latin typeface="Arial"/>
              </a:rPr>
              <a:t>4. Insights &amp; Contract Writer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533095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כותב insights.md עסקי ומייצר dataset_contract.json שמגדיר לצוות 2 מה מותר.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1737360"/>
            <a:ext cx="5029200" cy="4020747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ancel_by_ho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47088"/>
            <a:ext cx="4809744" cy="343553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52826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המלון העירוני מבטל הרבה יותר מהמלון הנופש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תובנות עסקיות מרכזיות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Arial"/>
              </a:rPr>
              <a:t>מה הנתונים אומרים להנהלת המלון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1481328"/>
            <a:ext cx="2743200" cy="2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737360"/>
            <a:ext cx="5760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000">
                <a:solidFill>
                  <a:srgbClr val="F97316"/>
                </a:solidFill>
                <a:latin typeface="Arial"/>
              </a:rPr>
              <a:t>◀  </a:t>
            </a:r>
            <a:r>
              <a:rPr sz="1400" b="1">
                <a:solidFill>
                  <a:srgbClr val="FFFFFF"/>
                </a:solidFill>
                <a:latin typeface="Arial"/>
              </a:rPr>
              <a:t>המלון העירוני מבטל 41.8%</a:t>
            </a:r>
            <a:r>
              <a:rPr sz="1400">
                <a:solidFill>
                  <a:srgbClr val="CBD5E1"/>
                </a:solidFill>
                <a:latin typeface="Arial"/>
              </a:rPr>
              <a:t>  לעומת 28.1% במלון הנופש — סיכון גבוה בכ-50%. דורש חיץ Overbooking ומדיניות פיקדון מחמירה.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000">
                <a:solidFill>
                  <a:srgbClr val="F97316"/>
                </a:solidFill>
                <a:latin typeface="Arial"/>
              </a:rPr>
              <a:t>◀  </a:t>
            </a:r>
            <a:r>
              <a:rPr sz="1400" b="1">
                <a:solidFill>
                  <a:srgbClr val="FFFFFF"/>
                </a:solidFill>
                <a:latin typeface="Arial"/>
              </a:rPr>
              <a:t>פיקדון "ללא החזר" מבטל כמעט תמיד</a:t>
            </a:r>
            <a:r>
              <a:rPr sz="1400">
                <a:solidFill>
                  <a:srgbClr val="CBD5E1"/>
                </a:solidFill>
                <a:latin typeface="Arial"/>
              </a:rPr>
              <a:t>  — פרדוקס שמצביע על הזמנות קבוצתיות/מסחריות ספקולטיביות. ממצא שדורש חקירה תפעולית.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000">
                <a:solidFill>
                  <a:srgbClr val="F97316"/>
                </a:solidFill>
                <a:latin typeface="Arial"/>
              </a:rPr>
              <a:t>◀  </a:t>
            </a:r>
            <a:r>
              <a:rPr sz="1400" b="1">
                <a:solidFill>
                  <a:srgbClr val="FFFFFF"/>
                </a:solidFill>
                <a:latin typeface="Arial"/>
              </a:rPr>
              <a:t>קבוצות מבטלות 62%</a:t>
            </a:r>
            <a:r>
              <a:rPr sz="1400">
                <a:solidFill>
                  <a:srgbClr val="CBD5E1"/>
                </a:solidFill>
                <a:latin typeface="Arial"/>
              </a:rPr>
              <a:t>  מההזמנות, לעומת 15% בערוץ הישיר ו-19% בעסקי — הערוץ הוא מנבא חזק.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000">
                <a:solidFill>
                  <a:srgbClr val="F97316"/>
                </a:solidFill>
                <a:latin typeface="Arial"/>
              </a:rPr>
              <a:t>◀  </a:t>
            </a:r>
            <a:r>
              <a:rPr sz="1400" b="1">
                <a:solidFill>
                  <a:srgbClr val="FFFFFF"/>
                </a:solidFill>
                <a:latin typeface="Arial"/>
              </a:rPr>
              <a:t>OTA שולטות ב-~68%</a:t>
            </a:r>
            <a:r>
              <a:rPr sz="1400">
                <a:solidFill>
                  <a:srgbClr val="CBD5E1"/>
                </a:solidFill>
                <a:latin typeface="Arial"/>
              </a:rPr>
              <a:t>  מההזמנות (אונליין + אופליין) — עמלות של 15–20%. כל נקודת אחוז לערוץ הישיר = רווח.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000">
                <a:solidFill>
                  <a:srgbClr val="F97316"/>
                </a:solidFill>
                <a:latin typeface="Arial"/>
              </a:rPr>
              <a:t>◀  </a:t>
            </a:r>
            <a:r>
              <a:rPr sz="1400" b="1">
                <a:solidFill>
                  <a:srgbClr val="FFFFFF"/>
                </a:solidFill>
                <a:latin typeface="Arial"/>
              </a:rPr>
              <a:t>104.6 ימים</a:t>
            </a:r>
            <a:r>
              <a:rPr sz="1400">
                <a:solidFill>
                  <a:srgbClr val="CBD5E1"/>
                </a:solidFill>
                <a:latin typeface="Arial"/>
              </a:rPr>
              <a:t>  זמן הזמנה ממוצע מראש — חלון גדול לפעולה מונעת על הזמנות בסיכון.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197" y="1737360"/>
            <a:ext cx="4988966" cy="3200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ncel_by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5" y="1847088"/>
            <a:ext cx="4769510" cy="2980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49560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Arial"/>
              </a:rPr>
              <a:t>שיעור ביטולים לפי סוג פיקדון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85232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2239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2000" b="1">
                <a:solidFill>
                  <a:srgbClr val="EF4444"/>
                </a:solidFill>
                <a:latin typeface="Arial"/>
              </a:rPr>
              <a:t>99.4%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9671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ללא החזר (12%)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5285232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542239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2000" b="1">
                <a:solidFill>
                  <a:srgbClr val="3B82F6"/>
                </a:solidFill>
                <a:latin typeface="Arial"/>
              </a:rPr>
              <a:t>28.6%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69671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ללא פיקדון (88%)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5285232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542239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2000" b="1">
                <a:solidFill>
                  <a:srgbClr val="10B981"/>
                </a:solidFill>
                <a:latin typeface="Arial"/>
              </a:rPr>
              <a:t>22.2%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69671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ניתן להחזר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CrewAI Flow — שער הולידציה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Arial"/>
              </a:rPr>
              <a:t>ההעברה בין הצוותים היא לא "קובץ עובר" — היא חוזה שנאכף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1481328"/>
            <a:ext cx="2743200" cy="2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3736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100">
                <a:solidFill>
                  <a:srgbClr val="F97316"/>
                </a:solidFill>
                <a:latin typeface="Arial"/>
              </a:rPr>
              <a:t>◀  </a:t>
            </a:r>
            <a:r>
              <a:rPr sz="1500" b="1">
                <a:solidFill>
                  <a:srgbClr val="FFFFFF"/>
                </a:solidFill>
                <a:latin typeface="Arial"/>
              </a:rPr>
              <a:t>אוטומציה מלאה:</a:t>
            </a:r>
            <a:r>
              <a:rPr sz="1500">
                <a:solidFill>
                  <a:srgbClr val="CBD5E1"/>
                </a:solidFill>
                <a:latin typeface="Arial"/>
              </a:rPr>
              <a:t>  צוות 1 → שער → צוות 2 → שער סופי. אין העברת קבצים ידנית.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100">
                <a:solidFill>
                  <a:srgbClr val="F97316"/>
                </a:solidFill>
                <a:latin typeface="Arial"/>
              </a:rPr>
              <a:t>◀  </a:t>
            </a:r>
            <a:r>
              <a:rPr sz="1500" b="1">
                <a:solidFill>
                  <a:srgbClr val="FFFFFF"/>
                </a:solidFill>
                <a:latin typeface="Arial"/>
              </a:rPr>
              <a:t>נכשל בחן:</a:t>
            </a:r>
            <a:r>
              <a:rPr sz="1500">
                <a:solidFill>
                  <a:srgbClr val="CBD5E1"/>
                </a:solidFill>
                <a:latin typeface="Arial"/>
              </a:rPr>
              <a:t>  FlowValidationError ברור, הריצה נעצרת לפני שמבזבזים קריאת LLM על נתונים שבורים.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100">
                <a:solidFill>
                  <a:srgbClr val="F97316"/>
                </a:solidFill>
                <a:latin typeface="Arial"/>
              </a:rPr>
              <a:t>◀  </a:t>
            </a:r>
            <a:r>
              <a:rPr sz="1500" b="1">
                <a:solidFill>
                  <a:srgbClr val="FFFFFF"/>
                </a:solidFill>
                <a:latin typeface="Arial"/>
              </a:rPr>
              <a:t>לוג ריצה:</a:t>
            </a:r>
            <a:r>
              <a:rPr sz="1500">
                <a:solidFill>
                  <a:srgbClr val="CBD5E1"/>
                </a:solidFill>
                <a:latin typeface="Arial"/>
              </a:rPr>
              <a:t>  כל שלב נרשם ל-outputs/flow_run_log.json עם חותמת זמן וסטטוס.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343400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4389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400" b="1">
                <a:solidFill>
                  <a:srgbClr val="F97316"/>
                </a:solidFill>
                <a:latin typeface="Arial"/>
              </a:rPr>
              <a:t>מה השער בודק לפני שצוות 2 מתחיל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475488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200"/>
              </a:spcAft>
            </a:pPr>
            <a:r>
              <a:rPr sz="800">
                <a:solidFill>
                  <a:srgbClr val="10B981"/>
                </a:solidFill>
                <a:latin typeface="Arial"/>
              </a:rPr>
              <a:t>✓  </a:t>
            </a:r>
            <a:r>
              <a:rPr sz="1200">
                <a:solidFill>
                  <a:srgbClr val="CBD5E1"/>
                </a:solidFill>
                <a:latin typeface="Arial"/>
              </a:rPr>
              <a:t>כל 4 הפלטים של צוות 1 קיימים</a:t>
            </a:r>
          </a:p>
          <a:p>
            <a:pPr rtl="1" algn="r">
              <a:lnSpc>
                <a:spcPct val="125000"/>
              </a:lnSpc>
              <a:spcAft>
                <a:spcPts val="200"/>
              </a:spcAft>
            </a:pPr>
            <a:r>
              <a:rPr sz="800">
                <a:solidFill>
                  <a:srgbClr val="10B981"/>
                </a:solidFill>
                <a:latin typeface="Arial"/>
              </a:rPr>
              <a:t>✓  </a:t>
            </a:r>
            <a:r>
              <a:rPr sz="1200">
                <a:solidFill>
                  <a:srgbClr val="CBD5E1"/>
                </a:solidFill>
                <a:latin typeface="Arial"/>
              </a:rPr>
              <a:t>עמודת המטרה קיימת בנתונים</a:t>
            </a:r>
          </a:p>
          <a:p>
            <a:pPr rtl="1" algn="r">
              <a:lnSpc>
                <a:spcPct val="125000"/>
              </a:lnSpc>
              <a:spcAft>
                <a:spcPts val="200"/>
              </a:spcAft>
            </a:pPr>
            <a:r>
              <a:rPr sz="800">
                <a:solidFill>
                  <a:srgbClr val="10B981"/>
                </a:solidFill>
                <a:latin typeface="Arial"/>
              </a:rPr>
              <a:t>✓  </a:t>
            </a:r>
            <a:r>
              <a:rPr sz="1200">
                <a:solidFill>
                  <a:srgbClr val="CBD5E1"/>
                </a:solidFill>
                <a:latin typeface="Arial"/>
              </a:rPr>
              <a:t>החוזה מצהיר על פיצ'רים (לא ריק) וכולם קיימים ב-CSV</a:t>
            </a:r>
          </a:p>
          <a:p>
            <a:pPr rtl="1" algn="r">
              <a:lnSpc>
                <a:spcPct val="125000"/>
              </a:lnSpc>
              <a:spcAft>
                <a:spcPts val="200"/>
              </a:spcAft>
            </a:pPr>
            <a:r>
              <a:rPr sz="800">
                <a:solidFill>
                  <a:srgbClr val="10B981"/>
                </a:solidFill>
                <a:latin typeface="Arial"/>
              </a:rPr>
              <a:t>✓  </a:t>
            </a:r>
            <a:r>
              <a:rPr sz="1200">
                <a:solidFill>
                  <a:srgbClr val="CBD5E1"/>
                </a:solidFill>
                <a:latin typeface="Arial"/>
              </a:rPr>
              <a:t>אף עמודת דליפה לא הוכרזה כפיצ'ר</a:t>
            </a:r>
          </a:p>
          <a:p>
            <a:pPr rtl="1" algn="r">
              <a:lnSpc>
                <a:spcPct val="125000"/>
              </a:lnSpc>
              <a:spcAft>
                <a:spcPts val="200"/>
              </a:spcAft>
            </a:pPr>
            <a:r>
              <a:rPr sz="800">
                <a:solidFill>
                  <a:srgbClr val="10B981"/>
                </a:solidFill>
                <a:latin typeface="Arial"/>
              </a:rPr>
              <a:t>✓  </a:t>
            </a:r>
            <a:r>
              <a:rPr sz="1200">
                <a:solidFill>
                  <a:srgbClr val="CBD5E1"/>
                </a:solidFill>
                <a:latin typeface="Arial"/>
              </a:rPr>
              <a:t>מספר השורות בחוזה = מספר השורות בפועל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737360"/>
            <a:ext cx="5029200" cy="443484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[crew1_analyst] started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0B981"/>
                </a:solidFill>
                <a:latin typeface="Menlo"/>
              </a:rPr>
              <a:t>[crew1_analyst] completed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0B981"/>
                </a:solidFill>
                <a:latin typeface="Menlo"/>
              </a:rPr>
              <a:t>[validation_gate] passed —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dataset_contract.json matches clean_data.csv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(117567 rows, 25 declared feature columns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all present, leakage columns not declared)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[crew2_scientist] started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0B981"/>
                </a:solidFill>
                <a:latin typeface="Menlo"/>
              </a:rPr>
              <a:t>[crew2_scientist] completed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0B981"/>
                </a:solidFill>
                <a:latin typeface="Menlo"/>
              </a:rPr>
              <a:t>[final_validation] passed — All artifacts present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Menlo"/>
              </a:rPr>
              <a:t>✅ Flow completed successfully.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F97316"/>
                </a:solidFill>
                <a:latin typeface="Menlo"/>
              </a:rPr>
              <a:t>--- negative test (contract lists a leakage col) ---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EF4444"/>
                </a:solidFill>
                <a:latin typeface="Menlo"/>
              </a:rPr>
              <a:t>[validation_gate] failed — Contract declares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EF4444"/>
                </a:solidFill>
                <a:latin typeface="Menlo"/>
              </a:rPr>
              <a:t>  leakage columns as features: ['reservation_status']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EF4444"/>
                </a:solidFill>
                <a:latin typeface="Menlo"/>
              </a:rPr>
              <a:t>FlowValidationError → Crew 2 never started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צוות 2 — מדען נתונים (3 סוכנים)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Arial"/>
              </a:rPr>
              <a:t>מחוזה מאומת למודל מתועד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1481328"/>
            <a:ext cx="2743200" cy="2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737360"/>
            <a:ext cx="5669280" cy="11887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8288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1">
                <a:solidFill>
                  <a:srgbClr val="10B981"/>
                </a:solidFill>
                <a:latin typeface="Arial"/>
              </a:rPr>
              <a:t>1. Contract Validator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1945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קורא את dataset_contract.json ומאמת מול clean_data.csv: מטרה, פיצ'רים מוצהרים, דליפה, מספר שורות.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108960"/>
            <a:ext cx="5669280" cy="11887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32004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1">
                <a:solidFill>
                  <a:srgbClr val="3B82F6"/>
                </a:solidFill>
                <a:latin typeface="Arial"/>
              </a:rPr>
              <a:t>2. Feature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5661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בונה features.csv רק מ-25 העמודות שהחוזה אישר. arrival_date_year נשמר כמפתח פיצול בלבד — לא כפיצ'ר.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480560"/>
            <a:ext cx="5669280" cy="11887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4572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1">
                <a:solidFill>
                  <a:srgbClr val="F97316"/>
                </a:solidFill>
                <a:latin typeface="Arial"/>
              </a:rPr>
              <a:t>3. ML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9377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מאמן Random Forest ו-Gradient Boosting בפייפליין אחיד (StandardScaler + One-Hot), בוחר לפי ROC-AUC, כותב דוח ו-Model 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737360"/>
            <a:ext cx="5029200" cy="4020747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ead_tim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47088"/>
            <a:ext cx="4809744" cy="343553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52826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ככל שמזמינים מוקדם יותר — הסיכוי לביטול גדל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תוצאות המודל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Arial"/>
              </a:rPr>
              <a:t>השוואה הוגנת על סט מבחן שהמודל מעולם לא ראה (2017)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1481328"/>
            <a:ext cx="2743200" cy="2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6949440" cy="3920947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47088"/>
            <a:ext cx="6729984" cy="37014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1737360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900">
                <a:solidFill>
                  <a:srgbClr val="F97316"/>
                </a:solidFill>
                <a:latin typeface="Arial"/>
              </a:rPr>
              <a:t>◀  </a:t>
            </a:r>
            <a:r>
              <a:rPr sz="1300" b="1">
                <a:solidFill>
                  <a:srgbClr val="FFFFFF"/>
                </a:solidFill>
                <a:latin typeface="Arial"/>
              </a:rPr>
              <a:t>Gradient Boosting נבחר</a:t>
            </a:r>
            <a:r>
              <a:rPr sz="1300">
                <a:solidFill>
                  <a:srgbClr val="CBD5E1"/>
                </a:solidFill>
                <a:latin typeface="Arial"/>
              </a:rPr>
              <a:t>  — ROC-AUC 0.875, F1 0.693.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900">
                <a:solidFill>
                  <a:srgbClr val="F97316"/>
                </a:solidFill>
                <a:latin typeface="Arial"/>
              </a:rPr>
              <a:t>◀  </a:t>
            </a:r>
            <a:r>
              <a:rPr sz="1300" b="1">
                <a:solidFill>
                  <a:srgbClr val="FFFFFF"/>
                </a:solidFill>
                <a:latin typeface="Arial"/>
              </a:rPr>
              <a:t>Random Forest:</a:t>
            </a:r>
            <a:r>
              <a:rPr sz="1300">
                <a:solidFill>
                  <a:srgbClr val="CBD5E1"/>
                </a:solidFill>
                <a:latin typeface="Arial"/>
              </a:rPr>
              <a:t>  ROC-AUC 0.871, F1 0.695 — הפרש קטן, שני המודלים יציבים.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900">
                <a:solidFill>
                  <a:srgbClr val="F97316"/>
                </a:solidFill>
                <a:latin typeface="Arial"/>
              </a:rPr>
              <a:t>◀  </a:t>
            </a:r>
            <a:r>
              <a:rPr sz="1300" b="1">
                <a:solidFill>
                  <a:srgbClr val="FFFFFF"/>
                </a:solidFill>
                <a:latin typeface="Arial"/>
              </a:rPr>
              <a:t>פיצול טמפורלי</a:t>
            </a:r>
            <a:r>
              <a:rPr sz="1300">
                <a:solidFill>
                  <a:srgbClr val="CBD5E1"/>
                </a:solidFill>
                <a:latin typeface="Arial"/>
              </a:rPr>
              <a:t>  (2015–16 → 2017): אין "הצצה לעתיד".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900">
                <a:solidFill>
                  <a:srgbClr val="F97316"/>
                </a:solidFill>
                <a:latin typeface="Arial"/>
              </a:rPr>
              <a:t>◀  </a:t>
            </a:r>
            <a:r>
              <a:rPr sz="1300" b="1">
                <a:solidFill>
                  <a:srgbClr val="FFFFFF"/>
                </a:solidFill>
                <a:latin typeface="Arial"/>
              </a:rPr>
              <a:t>בלי דליפה:</a:t>
            </a:r>
            <a:r>
              <a:rPr sz="1300">
                <a:solidFill>
                  <a:srgbClr val="CBD5E1"/>
                </a:solidFill>
                <a:latin typeface="Arial"/>
              </a:rPr>
              <a:t>  reservation_status, assigned_room_type ומזהי agent/company הוצאו.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69296" y="4846320"/>
            <a:ext cx="1207008" cy="1280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69296" y="49834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2200" b="1">
                <a:solidFill>
                  <a:srgbClr val="3B82F6"/>
                </a:solidFill>
                <a:latin typeface="Arial"/>
              </a:rPr>
              <a:t>78.7%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9296" y="5577840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דיוק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0848" y="4846320"/>
            <a:ext cx="1207008" cy="1280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8" y="49834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2200" b="1">
                <a:solidFill>
                  <a:srgbClr val="10B981"/>
                </a:solidFill>
                <a:latin typeface="Arial"/>
              </a:rPr>
              <a:t>79.1%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5577840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Precision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846320"/>
            <a:ext cx="1207008" cy="1280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9834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2200" b="1">
                <a:solidFill>
                  <a:srgbClr val="F97316"/>
                </a:solidFill>
                <a:latin typeface="Arial"/>
              </a:rPr>
              <a:t>61.7%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577840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Recall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Model Card — AI אחראי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Arial"/>
              </a:rPr>
              <a:t>מה המודל נועד לעשות, מה לא, ומה המגבלות שלו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1481328"/>
            <a:ext cx="2743200" cy="2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737360"/>
            <a:ext cx="3520440" cy="4389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800" b="1">
                <a:solidFill>
                  <a:srgbClr val="3B82F6"/>
                </a:solidFill>
                <a:latin typeface="Arial"/>
              </a:rPr>
              <a:t>🎯 מטרה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377440"/>
            <a:ext cx="3246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800"/>
              </a:spcAft>
            </a:pPr>
            <a:r>
              <a:rPr sz="900">
                <a:solidFill>
                  <a:srgbClr val="3B82F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תמיכה בהחלטות Overbooking ומדיניות פיקדון</a:t>
            </a:r>
          </a:p>
          <a:p>
            <a:pPr rtl="1" algn="r">
              <a:lnSpc>
                <a:spcPct val="125000"/>
              </a:lnSpc>
              <a:spcAft>
                <a:spcPts val="800"/>
              </a:spcAft>
            </a:pPr>
            <a:r>
              <a:rPr sz="900">
                <a:solidFill>
                  <a:srgbClr val="3B82F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ניקוד סיכון מצרפי לתכנון תפעולי</a:t>
            </a:r>
          </a:p>
          <a:p>
            <a:pPr rtl="1" algn="r">
              <a:lnSpc>
                <a:spcPct val="125000"/>
              </a:lnSpc>
              <a:spcAft>
                <a:spcPts val="800"/>
              </a:spcAft>
            </a:pPr>
            <a:r>
              <a:rPr sz="900">
                <a:solidFill>
                  <a:srgbClr val="3B82F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לא לדחות/להעניש אורח בודד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20440" cy="4389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800" b="1">
                <a:solidFill>
                  <a:srgbClr val="F97316"/>
                </a:solidFill>
                <a:latin typeface="Arial"/>
              </a:rPr>
              <a:t>⚠️ מגבלות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3246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800"/>
              </a:spcAft>
            </a:pPr>
            <a:r>
              <a:rPr sz="900">
                <a:solidFill>
                  <a:srgbClr val="F9731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Recall 62% — כשליש מהביטולים לא נתפסים</a:t>
            </a:r>
          </a:p>
          <a:p>
            <a:pPr rtl="1" algn="r">
              <a:lnSpc>
                <a:spcPct val="125000"/>
              </a:lnSpc>
              <a:spcAft>
                <a:spcPts val="800"/>
              </a:spcAft>
            </a:pPr>
            <a:r>
              <a:rPr sz="900">
                <a:solidFill>
                  <a:srgbClr val="F9731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נתוני פורטוגל 2015–17 — לא בהכרח מכליל לשווקים אחרים</a:t>
            </a:r>
          </a:p>
          <a:p>
            <a:pPr rtl="1" algn="r">
              <a:lnSpc>
                <a:spcPct val="125000"/>
              </a:lnSpc>
              <a:spcAft>
                <a:spcPts val="800"/>
              </a:spcAft>
            </a:pPr>
            <a:r>
              <a:rPr sz="900">
                <a:solidFill>
                  <a:srgbClr val="F9731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לא מכיר זעזועים חיצוניים (מגפה, מלחמה)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737360"/>
            <a:ext cx="3520440" cy="4389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8288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800" b="1">
                <a:solidFill>
                  <a:srgbClr val="10B981"/>
                </a:solidFill>
                <a:latin typeface="Arial"/>
              </a:rPr>
              <a:t>🛡️ אתיקה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377440"/>
            <a:ext cx="3246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800"/>
              </a:spcAft>
            </a:pPr>
            <a:r>
              <a:rPr sz="900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country ו-market_segment הם פרוקסי גס — לא לפרופיל אורחים</a:t>
            </a:r>
          </a:p>
          <a:p>
            <a:pPr rtl="1" algn="r">
              <a:lnSpc>
                <a:spcPct val="125000"/>
              </a:lnSpc>
              <a:spcAft>
                <a:spcPts val="800"/>
              </a:spcAft>
            </a:pPr>
            <a:r>
              <a:rPr sz="900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אין שימוש במזהים אישיים</a:t>
            </a:r>
          </a:p>
          <a:p>
            <a:pPr rtl="1" algn="r">
              <a:lnSpc>
                <a:spcPct val="125000"/>
              </a:lnSpc>
              <a:spcAft>
                <a:spcPts val="800"/>
              </a:spcAft>
            </a:pPr>
            <a:r>
              <a:rPr sz="900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החיזוי הסתברותי — נדרש שיקול דעת אנושי לפני פעולה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אפליקציית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Arial"/>
              </a:rPr>
              <a:t>ממשק אחד שמריץ את ה-Flow ומציג את כל התוצרים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1481328"/>
            <a:ext cx="2743200" cy="2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73736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000">
                <a:solidFill>
                  <a:srgbClr val="F97316"/>
                </a:solidFill>
                <a:latin typeface="Arial"/>
              </a:rPr>
              <a:t>◀  </a:t>
            </a:r>
            <a:r>
              <a:rPr sz="1400" b="1">
                <a:solidFill>
                  <a:srgbClr val="FFFFFF"/>
                </a:solidFill>
                <a:latin typeface="Arial"/>
              </a:rPr>
              <a:t>Overview</a:t>
            </a:r>
            <a:r>
              <a:rPr sz="1400">
                <a:solidFill>
                  <a:srgbClr val="CBD5E1"/>
                </a:solidFill>
                <a:latin typeface="Arial"/>
              </a:rPr>
              <a:t>  — הסבר הארכיטקטורה ושאלת העסק.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000">
                <a:solidFill>
                  <a:srgbClr val="F97316"/>
                </a:solidFill>
                <a:latin typeface="Arial"/>
              </a:rPr>
              <a:t>◀  </a:t>
            </a:r>
            <a:r>
              <a:rPr sz="1400" b="1">
                <a:solidFill>
                  <a:srgbClr val="FFFFFF"/>
                </a:solidFill>
                <a:latin typeface="Arial"/>
              </a:rPr>
              <a:t>Run Flow</a:t>
            </a:r>
            <a:r>
              <a:rPr sz="1400">
                <a:solidFill>
                  <a:srgbClr val="CBD5E1"/>
                </a:solidFill>
                <a:latin typeface="Arial"/>
              </a:rPr>
              <a:t>  — כפתור אחד מריץ את כל ה-Flow עם קריאות LLM אמיתיות ומציג את לוג הריצה.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000">
                <a:solidFill>
                  <a:srgbClr val="F97316"/>
                </a:solidFill>
                <a:latin typeface="Arial"/>
              </a:rPr>
              <a:t>◀  </a:t>
            </a:r>
            <a:r>
              <a:rPr sz="1400" b="1">
                <a:solidFill>
                  <a:srgbClr val="FFFFFF"/>
                </a:solidFill>
                <a:latin typeface="Arial"/>
              </a:rPr>
              <a:t>EDA &amp; Insights</a:t>
            </a:r>
            <a:r>
              <a:rPr sz="1400">
                <a:solidFill>
                  <a:srgbClr val="CBD5E1"/>
                </a:solidFill>
                <a:latin typeface="Arial"/>
              </a:rPr>
              <a:t>  — גרפים חיים מ-clean_data.csv, insights.md, דוח EDA והחוזה.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000">
                <a:solidFill>
                  <a:srgbClr val="F97316"/>
                </a:solidFill>
                <a:latin typeface="Arial"/>
              </a:rPr>
              <a:t>◀  </a:t>
            </a:r>
            <a:r>
              <a:rPr sz="1400" b="1">
                <a:solidFill>
                  <a:srgbClr val="FFFFFF"/>
                </a:solidFill>
                <a:latin typeface="Arial"/>
              </a:rPr>
              <a:t>Model Results</a:t>
            </a:r>
            <a:r>
              <a:rPr sz="1400">
                <a:solidFill>
                  <a:srgbClr val="CBD5E1"/>
                </a:solidFill>
                <a:latin typeface="Arial"/>
              </a:rPr>
              <a:t>  — דוח הערכה, Model Card, וחיזוי חי: מזינים פרטי הזמנה ומקבלים הסתברות ביטול.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6858000" cy="3953637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-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47088"/>
            <a:ext cx="6638544" cy="37341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שחזור, איכות וטכנולוגיה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1207008"/>
            <a:ext cx="2743200" cy="2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713232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2763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1">
                <a:solidFill>
                  <a:srgbClr val="3B82F6"/>
                </a:solidFill>
                <a:latin typeface="Arial"/>
              </a:rPr>
              <a:t>🔁 שחזור מלא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9339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הרצת הכלים הדטרמיניסטיים על הנתונים הגולמיים מחזירה בדיוק את אותן מטריקות (random_state=42, פיצול טמפורלי קבוע).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697480"/>
            <a:ext cx="713232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77063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1">
                <a:solidFill>
                  <a:srgbClr val="F97316"/>
                </a:solidFill>
                <a:latin typeface="Arial"/>
              </a:rPr>
              <a:t>🧪 שער שנבדק גם בשלילה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13639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החוזה נבדק מול נתונים אמיתיים: חוזה ריק, עמודה חסרה או עמודת דליפה — כולם עוצרים את ה-Flow.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840480"/>
            <a:ext cx="713232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91363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1">
                <a:solidFill>
                  <a:srgbClr val="10B981"/>
                </a:solidFill>
                <a:latin typeface="Arial"/>
              </a:rPr>
              <a:t>🔐 סודות מחוץ ל-Git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27939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מפתח ה-API ב-.env (ב-.gitignore); המודל נבחר דרך משתנה סביבה.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4983480"/>
            <a:ext cx="713232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505663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500" b="1">
                <a:solidFill>
                  <a:srgbClr val="8B5CF6"/>
                </a:solidFill>
                <a:latin typeface="Arial"/>
              </a:rPr>
              <a:t>📦 כל התוצרים בריפו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42239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חוזה, EDA, insights, מודל, דוח הערכה, Model Card ולוג הריצה — כולם מגובים ב-GitHub.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1554480"/>
            <a:ext cx="3657600" cy="4434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1645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800" b="1">
                <a:solidFill>
                  <a:srgbClr val="3B82F6"/>
                </a:solidFill>
                <a:latin typeface="Arial"/>
              </a:rPr>
              <a:t>🛠️ Tech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19456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600"/>
              </a:spcAft>
            </a:pPr>
            <a:r>
              <a:rPr sz="900">
                <a:solidFill>
                  <a:srgbClr val="3B82F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CrewAI (Agents, Tasks, Flow)</a:t>
            </a:r>
          </a:p>
          <a:p>
            <a:pPr rtl="1" algn="r">
              <a:lnSpc>
                <a:spcPct val="125000"/>
              </a:lnSpc>
              <a:spcAft>
                <a:spcPts val="600"/>
              </a:spcAft>
            </a:pPr>
            <a:r>
              <a:rPr sz="900">
                <a:solidFill>
                  <a:srgbClr val="3B82F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Claude Sonnet 4.6 · Anthropic</a:t>
            </a:r>
          </a:p>
          <a:p>
            <a:pPr rtl="1" algn="r">
              <a:lnSpc>
                <a:spcPct val="125000"/>
              </a:lnSpc>
              <a:spcAft>
                <a:spcPts val="600"/>
              </a:spcAft>
            </a:pPr>
            <a:r>
              <a:rPr sz="900">
                <a:solidFill>
                  <a:srgbClr val="3B82F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Python 3.12</a:t>
            </a:r>
          </a:p>
          <a:p>
            <a:pPr rtl="1" algn="r">
              <a:lnSpc>
                <a:spcPct val="125000"/>
              </a:lnSpc>
              <a:spcAft>
                <a:spcPts val="600"/>
              </a:spcAft>
            </a:pPr>
            <a:r>
              <a:rPr sz="900">
                <a:solidFill>
                  <a:srgbClr val="3B82F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Pandas · Scikit-Learn</a:t>
            </a:r>
          </a:p>
          <a:p>
            <a:pPr rtl="1" algn="r">
              <a:lnSpc>
                <a:spcPct val="125000"/>
              </a:lnSpc>
              <a:spcAft>
                <a:spcPts val="600"/>
              </a:spcAft>
            </a:pPr>
            <a:r>
              <a:rPr sz="900">
                <a:solidFill>
                  <a:srgbClr val="3B82F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Matplotlib · Seaborn</a:t>
            </a:r>
          </a:p>
          <a:p>
            <a:pPr rtl="1" algn="r">
              <a:lnSpc>
                <a:spcPct val="125000"/>
              </a:lnSpc>
              <a:spcAft>
                <a:spcPts val="600"/>
              </a:spcAft>
            </a:pPr>
            <a:r>
              <a:rPr sz="900">
                <a:solidFill>
                  <a:srgbClr val="3B82F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Streamlit</a:t>
            </a:r>
          </a:p>
          <a:p>
            <a:pPr rtl="1" algn="r">
              <a:lnSpc>
                <a:spcPct val="125000"/>
              </a:lnSpc>
              <a:spcAft>
                <a:spcPts val="600"/>
              </a:spcAft>
            </a:pPr>
            <a:r>
              <a:rPr sz="900">
                <a:solidFill>
                  <a:srgbClr val="3B82F6"/>
                </a:solidFill>
                <a:latin typeface="Arial"/>
              </a:rPr>
              <a:t>•  </a:t>
            </a:r>
            <a:r>
              <a:rPr sz="1300">
                <a:solidFill>
                  <a:srgbClr val="CBD5E1"/>
                </a:solidFill>
                <a:latin typeface="Arial"/>
              </a:rPr>
              <a:t>GitHub — github.com/nirwaizman/toto-final-project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סיכום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1207008"/>
            <a:ext cx="2743200" cy="2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4190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Toto — פרויקט גמר · ניר וייצמן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F97316"/>
                </a:solidFill>
                <a:latin typeface="Arial"/>
              </a:rPr>
              <a:t>◀  </a:t>
            </a:r>
            <a:r>
              <a:rPr sz="1700" b="1">
                <a:solidFill>
                  <a:srgbClr val="FFFFFF"/>
                </a:solidFill>
                <a:latin typeface="Arial"/>
              </a:rPr>
              <a:t>Flow דו-צוותי עובד ומשוחזר</a:t>
            </a:r>
            <a:r>
              <a:rPr sz="1700">
                <a:solidFill>
                  <a:srgbClr val="CBD5E1"/>
                </a:solidFill>
                <a:latin typeface="Arial"/>
              </a:rPr>
              <a:t>  — 7 סוכנים מתמחים, 2 שערי ולידציה, 8 תוצרים מתועדים.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F97316"/>
                </a:solidFill>
                <a:latin typeface="Arial"/>
              </a:rPr>
              <a:t>◀  </a:t>
            </a:r>
            <a:r>
              <a:rPr sz="1700" b="1">
                <a:solidFill>
                  <a:srgbClr val="FFFFFF"/>
                </a:solidFill>
                <a:latin typeface="Arial"/>
              </a:rPr>
              <a:t>פותר בעיה מלונאית אמיתית</a:t>
            </a:r>
            <a:r>
              <a:rPr sz="1700">
                <a:solidFill>
                  <a:srgbClr val="CBD5E1"/>
                </a:solidFill>
                <a:latin typeface="Arial"/>
              </a:rPr>
              <a:t>  — חיזוי סיכון ביטול ברגע ההזמנה לתמיכה בהחלטות הכנסה.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F97316"/>
                </a:solidFill>
                <a:latin typeface="Arial"/>
              </a:rPr>
              <a:t>◀  </a:t>
            </a:r>
            <a:r>
              <a:rPr sz="1700" b="1">
                <a:solidFill>
                  <a:srgbClr val="FFFFFF"/>
                </a:solidFill>
                <a:latin typeface="Arial"/>
              </a:rPr>
              <a:t>משמעת מודלינג:</a:t>
            </a:r>
            <a:r>
              <a:rPr sz="1700">
                <a:solidFill>
                  <a:srgbClr val="CBD5E1"/>
                </a:solidFill>
                <a:latin typeface="Arial"/>
              </a:rPr>
              <a:t>  פיצול טמפורלי, אפס דליפה, השוואת מודלים שקופה, Model Card עם מגבלות ואתיקה.</a:t>
            </a:r>
          </a:p>
          <a:p>
            <a:pPr rtl="1" algn="r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F97316"/>
                </a:solidFill>
                <a:latin typeface="Arial"/>
              </a:rPr>
              <a:t>◀  </a:t>
            </a:r>
            <a:r>
              <a:rPr sz="1700" b="1">
                <a:solidFill>
                  <a:srgbClr val="FFFFFF"/>
                </a:solidFill>
                <a:latin typeface="Arial"/>
              </a:rPr>
              <a:t>אותה פילוסופיה כמו Toto:</a:t>
            </a:r>
            <a:r>
              <a:rPr sz="1700">
                <a:solidFill>
                  <a:srgbClr val="CBD5E1"/>
                </a:solidFill>
                <a:latin typeface="Arial"/>
              </a:rPr>
              <a:t>  סוכנים מתמחים, העברות מאומתות, תמיכה בהחלטה — לא אוטומציה עיוורת.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892040"/>
            <a:ext cx="8138160" cy="109728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498348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תודה!  שאלות?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44068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>
              <a:lnSpc>
                <a:spcPct val="115000"/>
              </a:lnSpc>
            </a:pPr>
            <a:r>
              <a:rPr sz="1400" b="0">
                <a:solidFill>
                  <a:srgbClr val="CBD5E1"/>
                </a:solidFill>
                <a:latin typeface="Consolas"/>
              </a:rPr>
              <a:t>github.com/nirwaizman/toto-final-project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